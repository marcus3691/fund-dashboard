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2026年度年金理事会</a:t>
            </a:r>
          </a:p>
          <a:p>
            <a:pPr algn="ctr">
              <a:defRPr sz="4400" b="1">
                <a:solidFill>
                  <a:srgbClr val="003366"/>
                </a:solidFill>
              </a:defRPr>
            </a:pPr>
            <a:r>
              <a:t>调研工作成果汇报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66666"/>
                </a:solidFill>
              </a:defRPr>
            </a:pPr>
            <a:r>
              <a:t>探索年金管理新范式，提升投资能力建设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2026年度调研工作成果概览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2286000" cy="137160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2316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家重点</a:t>
            </a:r>
            <a:br/>
            <a:r>
              <a:t>投资管理人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1645920"/>
            <a:ext cx="2286000" cy="137160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173736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50+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42316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次</a:t>
            </a:r>
            <a:br/>
            <a:r>
              <a:t>调研交流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1645920"/>
            <a:ext cx="2286000" cy="137160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173736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42316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份</a:t>
            </a:r>
            <a:br/>
            <a:r>
              <a:t>观点纪要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645920"/>
            <a:ext cx="2286000" cy="137160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73736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42316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大突破</a:t>
            </a:r>
            <a:br/>
            <a:r>
              <a:t>方向探索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2918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调研对象及业绩表现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48640" y="3749039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657600"/>
                <a:gridCol w="4480560"/>
              </a:tblGrid>
              <a:tr h="5943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投资管理人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2025年收益率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同类排名分位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00000"/>
                          </a:solidFill>
                        </a:defRPr>
                      </a:pPr>
                      <a:r>
                        <a:t>国泰基金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00000"/>
                          </a:solidFill>
                        </a:defRPr>
                      </a:pPr>
                      <a:r>
                        <a:t>9.36%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00000"/>
                          </a:solidFill>
                        </a:defRPr>
                      </a:pPr>
                      <a:r>
                        <a:t>偏债混合前15%分位 ★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平安养老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7.06%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偏债混合前33%分位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富国基金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6.96%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偏债混合前33%分位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探索「产品化配置」投资新范式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痛点洞察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□ 路径依赖与能力边界 — 投资经理能力圈受限，风格切换时业绩波动大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□ 人性弱点难克服 — 不愿纠错、难以长期持有龙头、短期行为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□ 尾部磁吸效应 — 组合一旦落入后段，客户体验与内部压力导致翻身困难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097280"/>
            <a:ext cx="5577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富国基金创新实践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554480"/>
            <a:ext cx="5577840" cy="2286000"/>
          </a:xfrm>
          <a:prstGeom prst="roundRect">
            <a:avLst/>
          </a:prstGeom>
          <a:solidFill>
            <a:srgbClr val="F0F8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69164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3366"/>
                </a:solidFill>
              </a:defRPr>
            </a:pPr>
            <a:r>
              <a:t>核心策略（70%精力）+ 配置互补产品（30%）</a:t>
            </a:r>
          </a:p>
          <a:p>
            <a:pPr>
              <a:defRPr sz="900">
                <a:solidFill>
                  <a:srgbClr val="666666"/>
                </a:solidFill>
              </a:defRPr>
            </a:pPr>
            <a:r>
              <a:t>基金经理选股能力 + ETF/专户/量化产品</a:t>
            </a:r>
          </a:p>
          <a:p/>
          <a:p>
            <a:pPr>
              <a:defRPr sz="1000">
                <a:solidFill>
                  <a:srgbClr val="006699"/>
                </a:solidFill>
              </a:defRPr>
            </a:pPr>
            <a:r>
              <a:t>↓ 构建稳健「投资组合」，收益来源多样化</a:t>
            </a:r>
          </a:p>
          <a:p>
            <a:pPr>
              <a:defRPr sz="900" b="1">
                <a:solidFill>
                  <a:srgbClr val="C00000"/>
                </a:solidFill>
              </a:defRPr>
            </a:pPr>
            <a:r>
              <a:t>目标：长期稳健前1/3分位，降低组合波动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绩优组合策略解析 — 国泰基金案例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47120" cy="64008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国泰稳收组合2025年收益率9.36%，偏债混合前15%分位，权益资产收益率37.99%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366"/>
                </a:solidFill>
              </a:defRPr>
            </a:pPr>
            <a:r>
              <a:t>核心策略：聚焦7大产业链核心上游环节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77440"/>
            <a:ext cx="5029200" cy="91440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核心配置（中长期）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黄金股ETF（抗通胀+避险）</a:t>
            </a:r>
            <a:br/>
            <a:r>
              <a:t>稀土、锂矿等上游资源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474720"/>
            <a:ext cx="5029200" cy="914400"/>
          </a:xfrm>
          <a:prstGeom prst="round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52044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卫星配置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旅游等资产（捕捉轮动机会）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572000"/>
            <a:ext cx="5029200" cy="91440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61772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负贡献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证券ETF、银行ETF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9202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366"/>
                </a:solidFill>
              </a:defRPr>
            </a:pPr>
            <a:r>
              <a:t>固收操作亮点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37744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• 杠杆运用积极，把握利率债套息机会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83464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• 信用债以票息+杠杆策略为主，灵活调整久期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329184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• 可转债波段操作，8月部分止盈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2026年市场展望与投资共识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366"/>
                </a:solidFill>
              </a:defRPr>
            </a:pPr>
            <a:r>
              <a:t>宏观判断（高度一致）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11247120" cy="1188720"/>
          </a:xfrm>
          <a:prstGeom prst="roundRect">
            <a:avLst/>
          </a:prstGeom>
          <a:solidFill>
            <a:srgbClr val="F0F8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• 国泰观点：全球滞胀初期，A股「转型牛」升势未结束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• 平安观点：2026年为通缩转折之年，企业盈利改善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• 富国观点：经济回归内生增长，政策从稳增长向调结构倾斜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366"/>
                </a:solidFill>
              </a:defRPr>
            </a:pPr>
            <a:r>
              <a:t>权益配置共识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83280"/>
            <a:ext cx="3566160" cy="164592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47472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资源周期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有色金属（金、银、铝、铜、</a:t>
            </a:r>
            <a:br/>
            <a:r>
              <a:t>稀土、锂矿）← 国泰重仓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383280"/>
            <a:ext cx="3566160" cy="164592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347472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科技成长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AI、创新药</a:t>
            </a:r>
            <a:br/>
            <a:r>
              <a:t>（有业绩支撑）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3383280"/>
            <a:ext cx="3566160" cy="1645920"/>
          </a:xfrm>
          <a:prstGeom prst="round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347472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价值防守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房地产、消费</a:t>
            </a:r>
            <a:br/>
            <a:r>
              <a:t>（底部安全）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管理机制优化与权益仓位探讨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486400" cy="2377440"/>
          </a:xfrm>
          <a:prstGeom prst="roundRect">
            <a:avLst/>
          </a:prstGeom>
          <a:solidFill>
            <a:srgbClr val="FFF3E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C00000"/>
                </a:solidFill>
              </a:defRPr>
            </a:pPr>
            <a:r>
              <a:t>权益仓位上限探讨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/>
            </a:pPr>
            <a:r>
              <a:t>平安养老提议：</a:t>
            </a:r>
          </a:p>
          <a:p>
            <a:pPr>
              <a:defRPr sz="1000"/>
            </a:pPr>
            <a:r>
              <a:t>放宽组合权益仓位上限至35%</a:t>
            </a:r>
          </a:p>
          <a:p/>
          <a:p>
            <a:pPr>
              <a:defRPr sz="1100" b="1"/>
            </a:pPr>
            <a:r>
              <a:t>我方回应：</a:t>
            </a:r>
          </a:p>
          <a:p>
            <a:pPr>
              <a:defRPr sz="900"/>
            </a:pPr>
            <a:r>
              <a:t>• 基于历史业绩表现考虑</a:t>
            </a:r>
            <a:br/>
            <a:r>
              <a:t>• 可提出正式申请</a:t>
            </a:r>
            <a:br/>
            <a:r>
              <a:t>• 积极考虑并提请呈批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486400" cy="2377440"/>
          </a:xfrm>
          <a:prstGeom prst="roundRect">
            <a:avLst/>
          </a:prstGeom>
          <a:solidFill>
            <a:srgbClr val="E8F5E9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366"/>
                </a:solidFill>
              </a:defRPr>
            </a:pPr>
            <a:r>
              <a:t>国泰基金启示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• 较积极的权益仓位在2025年取得优异业绩（9.36%）</a:t>
            </a:r>
          </a:p>
          <a:p>
            <a:pPr>
              <a:defRPr sz="1000"/>
            </a:pPr>
            <a:r>
              <a:t>• 建议绩优组合可适度提高仓位上限</a:t>
            </a:r>
          </a:p>
          <a:p>
            <a:pPr>
              <a:defRPr sz="1000"/>
            </a:pPr>
            <a:r>
              <a:t>• 充分捕捉市场机会，提升组合收益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366"/>
                </a:solidFill>
              </a:defRPr>
            </a:pPr>
            <a:r>
              <a:t>优化方向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□ 更灵活的仓位调整机制 — 在看好市场时更充分配置资产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177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□ 基于业绩的动态调整 — 历史表现决定仓位权限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1206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□ 公平的竞争环境 — 各投资管理人在同等条件下展现实力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调研成果总结与2026年工作重点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657600"/>
                <a:gridCol w="438912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投资管理人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2025年收益率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核心策略特色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00000"/>
                          </a:solidFill>
                        </a:defRPr>
                      </a:pPr>
                      <a:r>
                        <a:t>国泰基金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00000"/>
                          </a:solidFill>
                        </a:defRPr>
                      </a:pPr>
                      <a:r>
                        <a:t>9.36%（前15%）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00000"/>
                          </a:solidFill>
                        </a:defRPr>
                      </a:pPr>
                      <a:r>
                        <a:t>上游资源聚焦+积极仓位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平安养老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7.06%（前33%）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均衡布局+价值防守+港股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富国基金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6.96%（前33%）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产品化配置+量化赋能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2926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366"/>
                </a:solidFill>
              </a:defRPr>
            </a:pPr>
            <a:r>
              <a:t>三大核心收获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383280"/>
            <a:ext cx="3566160" cy="118872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47472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新范式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产品化配置</a:t>
            </a:r>
            <a:br/>
            <a:r>
              <a:t>打破能力圈边界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383280"/>
            <a:ext cx="3566160" cy="118872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347472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新工具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量化赋能</a:t>
            </a:r>
            <a:br/>
            <a:r>
              <a:t>AI+系统化工具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3383280"/>
            <a:ext cx="3566160" cy="1188720"/>
          </a:xfrm>
          <a:prstGeom prst="round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347472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新机制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仓位优化</a:t>
            </a:r>
            <a:br/>
            <a:r>
              <a:t>灵活调整公平竞争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754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366"/>
                </a:solidFill>
              </a:defRPr>
            </a:pPr>
            <a:r>
              <a:t>2026年工作重点：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120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1. 推动投资管理人转向「产品化+量化」投资模式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44067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2. 参考国泰经验，优化上游资源类资产配置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7607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3. 完善投资管理人评价与遴选机制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08075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4. 根据人社部51号文修订相关工作制度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
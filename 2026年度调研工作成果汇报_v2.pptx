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7432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560320"/>
            <a:ext cx="1124712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400" b="1">
                <a:solidFill>
                  <a:srgbClr val="003366"/>
                </a:solidFill>
                <a:latin typeface="微软雅黑"/>
              </a:defRPr>
            </a:pPr>
            <a:r>
              <a:t>2026年度年金理事会</a:t>
            </a:r>
          </a:p>
          <a:p>
            <a:pPr algn="ctr">
              <a:defRPr sz="4400" b="1">
                <a:solidFill>
                  <a:srgbClr val="003366"/>
                </a:solidFill>
                <a:latin typeface="微软雅黑"/>
              </a:defRPr>
            </a:pPr>
            <a:r>
              <a:t>调研工作成果汇报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3931920"/>
            <a:ext cx="112471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>
                <a:solidFill>
                  <a:srgbClr val="666666"/>
                </a:solidFill>
                <a:latin typeface="微软雅黑"/>
              </a:defRPr>
            </a:pPr>
            <a:r>
              <a:t>探索年金管理新范式，提升投资能力建设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029200"/>
            <a:ext cx="112471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>
                <a:solidFill>
                  <a:srgbClr val="666666"/>
                </a:solidFill>
                <a:latin typeface="微软雅黑"/>
              </a:defRPr>
            </a:pPr>
            <a:r>
              <a:t>2026年3月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82880"/>
            <a:ext cx="11430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  <a:latin typeface="微软雅黑"/>
              </a:defRPr>
            </a:pPr>
            <a:r>
              <a:t>2026年度调研工作成果概览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645920"/>
            <a:ext cx="2286000" cy="1371600"/>
          </a:xfrm>
          <a:prstGeom prst="roundRect">
            <a:avLst/>
          </a:prstGeom>
          <a:solidFill>
            <a:srgbClr val="0066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737360"/>
            <a:ext cx="22860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000" b="1">
                <a:solidFill>
                  <a:srgbClr val="FFFFFF"/>
                </a:solidFill>
                <a:latin typeface="微软雅黑"/>
              </a:defRPr>
            </a:pPr>
            <a:r>
              <a:t>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2423160"/>
            <a:ext cx="2286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>
                <a:solidFill>
                  <a:srgbClr val="FFFFFF"/>
                </a:solidFill>
                <a:latin typeface="微软雅黑"/>
              </a:defRPr>
            </a:pPr>
            <a:r>
              <a:t>家重点</a:t>
            </a:r>
            <a:br/>
            <a:r>
              <a:t>投资管理人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108960" y="1645920"/>
            <a:ext cx="2286000" cy="1371600"/>
          </a:xfrm>
          <a:prstGeom prst="roundRect">
            <a:avLst/>
          </a:prstGeom>
          <a:solidFill>
            <a:srgbClr val="0066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108960" y="1737360"/>
            <a:ext cx="22860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000" b="1">
                <a:solidFill>
                  <a:srgbClr val="FFFFFF"/>
                </a:solidFill>
                <a:latin typeface="微软雅黑"/>
              </a:defRPr>
            </a:pPr>
            <a:r>
              <a:t>50+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108960" y="2423160"/>
            <a:ext cx="2286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>
                <a:solidFill>
                  <a:srgbClr val="FFFFFF"/>
                </a:solidFill>
                <a:latin typeface="微软雅黑"/>
              </a:defRPr>
            </a:pPr>
            <a:r>
              <a:t>次</a:t>
            </a:r>
            <a:br/>
            <a:r>
              <a:t>调研交流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669280" y="1645920"/>
            <a:ext cx="2286000" cy="1371600"/>
          </a:xfrm>
          <a:prstGeom prst="roundRect">
            <a:avLst/>
          </a:prstGeom>
          <a:solidFill>
            <a:srgbClr val="0066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669280" y="1737360"/>
            <a:ext cx="22860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000" b="1">
                <a:solidFill>
                  <a:srgbClr val="FFFFFF"/>
                </a:solidFill>
                <a:latin typeface="微软雅黑"/>
              </a:defRPr>
            </a:pPr>
            <a:r>
              <a:t>30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669280" y="2423160"/>
            <a:ext cx="2286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>
                <a:solidFill>
                  <a:srgbClr val="FFFFFF"/>
                </a:solidFill>
                <a:latin typeface="微软雅黑"/>
              </a:defRPr>
            </a:pPr>
            <a:r>
              <a:t>份</a:t>
            </a:r>
            <a:br/>
            <a:r>
              <a:t>观点纪要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229600" y="1645920"/>
            <a:ext cx="2286000" cy="1371600"/>
          </a:xfrm>
          <a:prstGeom prst="roundRect">
            <a:avLst/>
          </a:prstGeom>
          <a:solidFill>
            <a:srgbClr val="0066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229600" y="1737360"/>
            <a:ext cx="22860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000" b="1">
                <a:solidFill>
                  <a:srgbClr val="FFFFFF"/>
                </a:solidFill>
                <a:latin typeface="微软雅黑"/>
              </a:defRPr>
            </a:pPr>
            <a:r>
              <a:t>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29600" y="2423160"/>
            <a:ext cx="2286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>
                <a:solidFill>
                  <a:srgbClr val="FFFFFF"/>
                </a:solidFill>
                <a:latin typeface="微软雅黑"/>
              </a:defRPr>
            </a:pPr>
            <a:r>
              <a:t>大突破</a:t>
            </a:r>
            <a:br/>
            <a:r>
              <a:t>方向探索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" y="329184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003366"/>
                </a:solidFill>
                <a:latin typeface="微软雅黑"/>
              </a:defRPr>
            </a:pPr>
            <a:r>
              <a:t>调研对象及业绩表现</a:t>
            </a:r>
          </a:p>
        </p:txBody>
      </p:sp>
      <p:graphicFrame>
        <p:nvGraphicFramePr>
          <p:cNvPr id="17" name="Table 16"/>
          <p:cNvGraphicFramePr>
            <a:graphicFrameLocks noGrp="1"/>
          </p:cNvGraphicFramePr>
          <p:nvPr/>
        </p:nvGraphicFramePr>
        <p:xfrm>
          <a:off x="548640" y="3749039"/>
          <a:ext cx="11064240" cy="2377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26080"/>
                <a:gridCol w="3657600"/>
                <a:gridCol w="4480560"/>
              </a:tblGrid>
              <a:tr h="594360">
                <a:tc>
                  <a:txBody>
                    <a:bodyPr/>
                    <a:lstStyle/>
                    <a:p>
                      <a:pPr>
                        <a:defRPr b="1" sz="1100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投资管理人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100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2025年收益率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100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同类排名分位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C00000"/>
                          </a:solidFill>
                          <a:latin typeface="微软雅黑"/>
                        </a:defRPr>
                      </a:pPr>
                      <a:r>
                        <a:t>国泰基金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C00000"/>
                          </a:solidFill>
                          <a:latin typeface="微软雅黑"/>
                        </a:defRPr>
                      </a:pPr>
                      <a:r>
                        <a:t>9.36%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C00000"/>
                          </a:solidFill>
                          <a:latin typeface="微软雅黑"/>
                        </a:defRPr>
                      </a:pPr>
                      <a:r>
                        <a:t>偏债混合前15%分位 ★</a:t>
                      </a:r>
                    </a:p>
                  </a:txBody>
                  <a:tcPr/>
                </a:tc>
              </a:tr>
              <a:tr h="594360">
                <a:tc>
                  <a:txBody>
                    <a:bodyPr/>
                    <a:lstStyle/>
                    <a:p>
                      <a:pPr>
                        <a:defRPr sz="1000">
                          <a:latin typeface="微软雅黑"/>
                        </a:defRPr>
                      </a:pPr>
                      <a:r>
                        <a:t>平安养老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latin typeface="微软雅黑"/>
                        </a:defRPr>
                      </a:pPr>
                      <a:r>
                        <a:t>7.06%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latin typeface="微软雅黑"/>
                        </a:defRPr>
                      </a:pPr>
                      <a:r>
                        <a:t>偏债混合前33%分位</a:t>
                      </a:r>
                    </a:p>
                  </a:txBody>
                  <a:tcPr/>
                </a:tc>
              </a:tr>
              <a:tr h="594360">
                <a:tc>
                  <a:txBody>
                    <a:bodyPr/>
                    <a:lstStyle/>
                    <a:p>
                      <a:pPr>
                        <a:defRPr sz="1000">
                          <a:latin typeface="微软雅黑"/>
                        </a:defRPr>
                      </a:pPr>
                      <a:r>
                        <a:t>富国基金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latin typeface="微软雅黑"/>
                        </a:defRPr>
                      </a:pPr>
                      <a:r>
                        <a:t>6.96%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latin typeface="微软雅黑"/>
                        </a:defRPr>
                      </a:pPr>
                      <a:r>
                        <a:t>偏债混合前33%分位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82880"/>
            <a:ext cx="11430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  <a:latin typeface="微软雅黑"/>
              </a:defRPr>
            </a:pPr>
            <a:r>
              <a:t>探索「产品化配置」投资新范式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53035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003366"/>
                </a:solidFill>
                <a:latin typeface="微软雅黑"/>
              </a:defRPr>
            </a:pPr>
            <a:r>
              <a:t>痛点洞察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554480"/>
            <a:ext cx="5303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>
                <a:solidFill>
                  <a:srgbClr val="000000"/>
                </a:solidFill>
                <a:latin typeface="微软雅黑"/>
              </a:defRPr>
            </a:pPr>
            <a:r>
              <a:t>□ 路径依赖与能力边界 — 投资经理能力圈受限，风格切换时业绩波动大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057400"/>
            <a:ext cx="5303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>
                <a:solidFill>
                  <a:srgbClr val="000000"/>
                </a:solidFill>
                <a:latin typeface="微软雅黑"/>
              </a:defRPr>
            </a:pPr>
            <a:r>
              <a:t>□ 人性弱点难克服 — 不愿纠错、难以长期持有龙头、短期行为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560320"/>
            <a:ext cx="5303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>
                <a:solidFill>
                  <a:srgbClr val="000000"/>
                </a:solidFill>
                <a:latin typeface="微软雅黑"/>
              </a:defRPr>
            </a:pPr>
            <a:r>
              <a:t>□ 尾部磁吸效应 — 组合一旦落入后段，客户体验与内部压力导致翻身困难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035040" y="1097280"/>
            <a:ext cx="55778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003366"/>
                </a:solidFill>
                <a:latin typeface="微软雅黑"/>
              </a:defRPr>
            </a:pPr>
            <a:r>
              <a:t>富国基金创新实践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035040" y="1554480"/>
            <a:ext cx="5577840" cy="2286000"/>
          </a:xfrm>
          <a:prstGeom prst="roundRect">
            <a:avLst/>
          </a:prstGeom>
          <a:solidFill>
            <a:srgbClr val="F0F8FF"/>
          </a:solidFill>
          <a:ln w="19050">
            <a:solidFill>
              <a:srgbClr val="0066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217920" y="1691640"/>
            <a:ext cx="521208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03366"/>
                </a:solidFill>
                <a:latin typeface="微软雅黑"/>
              </a:defRPr>
            </a:pPr>
            <a:r>
              <a:t>核心策略（70%精力）+ 配置互补产品（30%）</a:t>
            </a:r>
          </a:p>
          <a:p>
            <a:pPr>
              <a:defRPr sz="900">
                <a:solidFill>
                  <a:srgbClr val="666666"/>
                </a:solidFill>
                <a:latin typeface="微软雅黑"/>
              </a:defRPr>
            </a:pPr>
            <a:r>
              <a:t>基金经理选股能力 + ETF/专户/量化产品</a:t>
            </a:r>
          </a:p>
          <a:p/>
          <a:p>
            <a:pPr>
              <a:defRPr sz="1000">
                <a:solidFill>
                  <a:srgbClr val="006699"/>
                </a:solidFill>
                <a:latin typeface="微软雅黑"/>
              </a:defRPr>
            </a:pPr>
            <a:r>
              <a:t>↓ 构建稳健「投资组合」，收益来源多样化</a:t>
            </a:r>
          </a:p>
          <a:p>
            <a:pPr>
              <a:defRPr sz="900" b="1">
                <a:solidFill>
                  <a:srgbClr val="C00000"/>
                </a:solidFill>
                <a:latin typeface="微软雅黑"/>
              </a:defRPr>
            </a:pPr>
            <a:r>
              <a:t>目标：长期稳健前1/3分位，降低组合波动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